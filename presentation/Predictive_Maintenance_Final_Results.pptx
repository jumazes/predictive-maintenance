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 descr="s1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8463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FF743"/>
                </a:solidFill>
                <a:latin typeface="Roboto Condensed"/>
              </a:rPr>
              <a:t>FINAL ML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658368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Roboto Condensed"/>
              </a:rPr>
              <a:t>PREDICTIVE
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65836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Roboto Condensed"/>
              </a:rPr>
              <a:t>Machine Learning Methods and Models for Predicting
the Technical Condition of Industrial Equipment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3182112"/>
            <a:ext cx="6720840" cy="877824"/>
          </a:xfrm>
          <a:prstGeom prst="roundRect">
            <a:avLst/>
          </a:prstGeom>
          <a:solidFill>
            <a:srgbClr val="0D89DA">
              <a:alpha val="85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319272"/>
            <a:ext cx="62636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Roboto Condensed"/>
              </a:rPr>
              <a:t>Can sensor data identify operating conditions linked to machine failure?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280160"/>
            <a:ext cx="1508760" cy="132588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7" y="1353312"/>
            <a:ext cx="1289304" cy="72923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0.898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1996135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PR-AUC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280160"/>
            <a:ext cx="1508760" cy="132588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1353312"/>
            <a:ext cx="1289304" cy="72923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83.9%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8" y="1996135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88920"/>
            <a:ext cx="1508760" cy="132588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2862072"/>
            <a:ext cx="1289304" cy="72923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47 / 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3504895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Failures found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788920"/>
            <a:ext cx="1508760" cy="132588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2862072"/>
            <a:ext cx="1289304" cy="72923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3504895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False alarms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2648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BFF4FF"/>
                </a:solidFill>
                <a:latin typeface="Roboto Condensed"/>
              </a:rPr>
              <a:t>Results shown in this deck: bundled offline AI4I-style replica • fixed seed 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PROBLEM &amp; SUCCESS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Predictive maintenance should detect the rare cases that matter — not just maximise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456432" cy="1956816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DFF743"/>
                </a:solidFill>
                <a:latin typeface="Roboto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27632"/>
            <a:ext cx="23317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Roboto Condensed"/>
              </a:rPr>
              <a:t>REACTIVE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301752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Repair after failure
Downtime has already happened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08760"/>
            <a:ext cx="3456432" cy="1956816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627632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DFF743"/>
                </a:solidFill>
                <a:latin typeface="Roboto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1627632"/>
            <a:ext cx="23317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Roboto Condensed"/>
              </a:rPr>
              <a:t>PREVENTIVE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194560"/>
            <a:ext cx="301752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Service on a schedule
Can maintain healthy equipment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508760"/>
            <a:ext cx="3456432" cy="1956816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627632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DFF743"/>
                </a:solidFill>
                <a:latin typeface="Roboto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1627632"/>
            <a:ext cx="23317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Roboto Condensed"/>
              </a:rPr>
              <a:t>PREDICTIVE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194560"/>
            <a:ext cx="301752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Use current condition
Prioritise equipment for inspection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22191"/>
            <a:ext cx="11064240" cy="2130552"/>
          </a:xfrm>
          <a:prstGeom prst="roundRect">
            <a:avLst/>
          </a:prstGeom>
          <a:solidFill>
            <a:srgbClr val="0D89DA">
              <a:alpha val="86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05072"/>
            <a:ext cx="192024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SUCCESS CRITERIA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581144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480560"/>
            <a:ext cx="49834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Detect a high share of real failures → Recall / F2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065776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965192"/>
            <a:ext cx="49834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Keep alerts useful → Precision</a:t>
            </a:r>
          </a:p>
        </p:txBody>
      </p:sp>
      <p:sp>
        <p:nvSpPr>
          <p:cNvPr id="25" name="Oval 24"/>
          <p:cNvSpPr/>
          <p:nvPr/>
        </p:nvSpPr>
        <p:spPr>
          <a:xfrm>
            <a:off x="5989320" y="4581144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4480560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Evaluate rare positives correctly → PR-AUC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5065776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4965192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Beat a simple baseline on a locked test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Core question: which operating states can be detected reliably from the available sensor features?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CONTEXT: PREDICTIVE MAINTENANCE IN KAZAKHSTAN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The research direction already exists; this project focuses on a rigorous, reproducible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3383280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77724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045BA6"/>
                </a:solidFill>
                <a:latin typeface="Roboto Condensed"/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29260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E1B25"/>
                </a:solidFill>
                <a:latin typeface="Roboto Condensed"/>
              </a:rPr>
              <a:t>Oil-well failure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292608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95E6F"/>
                </a:solidFill>
                <a:latin typeface="Roboto Condensed"/>
              </a:rPr>
              <a:t>~4,000 wells; LR / Random Forest / Naive Bayes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5BA6"/>
                </a:solidFill>
                <a:latin typeface="Roboto Condensed"/>
              </a:rPr>
              <a:t>SOCAR Proceedings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44752"/>
            <a:ext cx="3383280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77724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045BA6"/>
                </a:solidFill>
                <a:latin typeface="Roboto Condensed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1"/>
            <a:ext cx="29260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E1B25"/>
                </a:solidFill>
                <a:latin typeface="Roboto Condensed"/>
              </a:rPr>
              <a:t>Operating-profile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52928"/>
            <a:ext cx="292608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95E6F"/>
                </a:solidFill>
                <a:latin typeface="Roboto Condensed"/>
              </a:rPr>
              <a:t>K-means to group oil-well operating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17880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5BA6"/>
                </a:solidFill>
                <a:latin typeface="Roboto Condensed"/>
              </a:rPr>
              <a:t>SOCAR Proceedings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444752"/>
            <a:ext cx="3383280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627632"/>
            <a:ext cx="77724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045BA6"/>
                </a:solidFill>
                <a:latin typeface="Roboto Condensed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084831"/>
            <a:ext cx="29260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E1B25"/>
                </a:solidFill>
                <a:latin typeface="Roboto Condensed"/>
              </a:rPr>
              <a:t>Bearing condition &amp; RUL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852928"/>
            <a:ext cx="292608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95E6F"/>
                </a:solidFill>
                <a:latin typeface="Roboto Condensed"/>
              </a:rPr>
              <a:t>RF / XGBoost / LSTM + 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417880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5BA6"/>
                </a:solidFill>
                <a:latin typeface="Roboto Condensed"/>
              </a:rPr>
              <a:t>EKTU JICS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93208"/>
            <a:ext cx="10972800" cy="85039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66944"/>
            <a:ext cx="1056132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DFF743"/>
                </a:solidFill>
                <a:latin typeface="Roboto Condensed"/>
              </a:rPr>
              <a:t>OUR CONTRIBUTION  </a:t>
            </a:r>
            <a:r>
              <a:rPr sz="1500" b="0">
                <a:solidFill>
                  <a:srgbClr val="FFFFFF"/>
                </a:solidFill>
                <a:latin typeface="Roboto Condensed"/>
              </a:rPr>
              <a:t>leakage-safe pipeline • imbalance-aware evaluation • feature ablation • error analysis • SHAP • working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Sources: Aktaukenov et al. (2024, 2026); Zharlykassova et al. (2026).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DATA: AI4I-STYLE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10,000 observations, six predictive inputs, rare failure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508760" cy="114300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90472"/>
            <a:ext cx="1289304" cy="62865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34540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1417320"/>
            <a:ext cx="1508760" cy="114300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490472"/>
            <a:ext cx="1289304" cy="62865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034540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Input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1063" y="1417320"/>
            <a:ext cx="1508760" cy="114300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1490472"/>
            <a:ext cx="1289304" cy="62865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034540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Missing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14416" y="1417320"/>
            <a:ext cx="1508760" cy="1143000"/>
          </a:xfrm>
          <a:prstGeom prst="roundRect">
            <a:avLst/>
          </a:prstGeom>
          <a:solidFill>
            <a:srgbClr val="0D89DA">
              <a:alpha val="92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4144" y="1490472"/>
            <a:ext cx="1289304" cy="62865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DFF743"/>
                </a:solidFill>
                <a:latin typeface="Roboto Condensed"/>
              </a:rPr>
              <a:t>3.73%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2034540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Failure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353312"/>
            <a:ext cx="4050791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ass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554480"/>
            <a:ext cx="3621024" cy="2578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92" y="2889504"/>
            <a:ext cx="1280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INPUTS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319272"/>
            <a:ext cx="1993392" cy="47548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364991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Type (L/M/H)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3784" y="3319272"/>
            <a:ext cx="1993392" cy="47548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364991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Air temperature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5776" y="3319272"/>
            <a:ext cx="1993392" cy="47548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8072" y="3364991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Process temperature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3959352"/>
            <a:ext cx="1993392" cy="47548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005072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Rotational speed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43784" y="3959352"/>
            <a:ext cx="1993392" cy="47548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005072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Torque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5776" y="3959352"/>
            <a:ext cx="1993392" cy="47548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8072" y="4005072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Tool wear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846320"/>
            <a:ext cx="10927080" cy="1033271"/>
          </a:xfrm>
          <a:prstGeom prst="roundRect">
            <a:avLst/>
          </a:prstGeom>
          <a:solidFill>
            <a:srgbClr val="0D89DA">
              <a:alpha val="87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029200"/>
            <a:ext cx="105156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DFF743"/>
                </a:solidFill>
                <a:latin typeface="Roboto Condensed"/>
              </a:rPr>
              <a:t>DATA NOTE  </a:t>
            </a:r>
            <a:r>
              <a:rPr sz="1300" b="0">
                <a:solidFill>
                  <a:srgbClr val="FFFFFF"/>
                </a:solidFill>
                <a:latin typeface="Roboto Condensed"/>
              </a:rPr>
              <a:t>This run uses a bundled offline replica built from the public UCI AI4I specification. It is not the byte-identical official UCI CSV; all reported metrics in this deck refer to this replica.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Official benchmark: UCI AI4I 2020 • 10,000 instances • 6 features • DOI: 10.24432/C5HS5C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DATA PREPARATION &amp; LEAKAGE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Only information available at inference time is allowed into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17320"/>
            <a:ext cx="5413248" cy="1965960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09344"/>
            <a:ext cx="210312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STRATIFIED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12618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Roboto Condensed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6888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BFF4FF"/>
                </a:solidFill>
                <a:latin typeface="Roboto Condensed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88920"/>
            <a:ext cx="126187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 Condensed"/>
              </a:rPr>
              <a:t>7,000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039112"/>
            <a:ext cx="12618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Roboto Condensed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46888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BFF4FF"/>
                </a:solidFill>
                <a:latin typeface="Roboto Condensed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88920"/>
            <a:ext cx="126187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 Condensed"/>
              </a:rPr>
              <a:t>1,500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039112"/>
            <a:ext cx="12618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Roboto Condensed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6888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BFF4FF"/>
                </a:solidFill>
                <a:latin typeface="Roboto Condensed"/>
              </a:rPr>
              <a:t>LOCKED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88920"/>
            <a:ext cx="126187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 Condensed"/>
              </a:rPr>
              <a:t>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417320"/>
            <a:ext cx="5257800" cy="1965960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609344"/>
            <a:ext cx="434340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REMOVED FROM PREDICTIVE INPUTS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213055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029968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 Condensed"/>
              </a:rPr>
              <a:t>UDI + Product ID → identifiers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258775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487168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 Condensed"/>
              </a:rPr>
              <a:t>TWF / HDF / PWF / OSF / RNF → target 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926080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FF4FF"/>
                </a:solidFill>
                <a:latin typeface="Roboto Condensed"/>
              </a:rPr>
              <a:t>Failure-mode labels are used only after prediction for error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730752"/>
            <a:ext cx="10927080" cy="2148840"/>
          </a:xfrm>
          <a:prstGeom prst="roundRect">
            <a:avLst/>
          </a:prstGeom>
          <a:solidFill>
            <a:srgbClr val="0D89DA">
              <a:alpha val="87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931920"/>
            <a:ext cx="24231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3 ENGINEERED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425696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39" y="45354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45BA6"/>
                </a:solidFill>
                <a:latin typeface="Roboto Condensed"/>
              </a:rPr>
              <a:t>Temperature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" y="49377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495E6F"/>
                </a:solidFill>
                <a:latin typeface="Roboto Condensed"/>
              </a:rPr>
              <a:t>process temp − air temp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4425696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45354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45BA6"/>
                </a:solidFill>
                <a:latin typeface="Roboto Condensed"/>
              </a:rPr>
              <a:t>Mechanical power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9377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495E6F"/>
                </a:solidFill>
                <a:latin typeface="Roboto Condensed"/>
              </a:rPr>
              <a:t>torque × RPM × 2π/60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81544" y="4425696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45354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45BA6"/>
                </a:solidFill>
                <a:latin typeface="Roboto Condensed"/>
              </a:rPr>
              <a:t>Wear × torque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49377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495E6F"/>
                </a:solidFill>
                <a:latin typeface="Roboto Condensed"/>
              </a:rPr>
              <a:t>tool wear × torque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No target information is used to construct the engineered features.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EXPERIMENT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One pipeline, fair model comparison, validation-only threshold selection.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417320"/>
            <a:ext cx="3401568" cy="121615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FF743"/>
                </a:solidFill>
                <a:latin typeface="Roboto Condense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58191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93392"/>
            <a:ext cx="23957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F4FF"/>
                </a:solidFill>
                <a:latin typeface="Roboto Condensed"/>
              </a:rPr>
              <a:t>impute • scale • one-hot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417320"/>
            <a:ext cx="3401568" cy="121615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6002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FF743"/>
                </a:solidFill>
                <a:latin typeface="Roboto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158191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1993392"/>
            <a:ext cx="23957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F4FF"/>
                </a:solidFill>
                <a:latin typeface="Roboto Condensed"/>
              </a:rPr>
              <a:t>Dummy + Logistic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401568" cy="121615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002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FF743"/>
                </a:solidFill>
                <a:latin typeface="Roboto Condense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581912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TREE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993392"/>
            <a:ext cx="23957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F4FF"/>
                </a:solidFill>
                <a:latin typeface="Roboto Condensed"/>
              </a:rPr>
              <a:t>Random Forest + XGBoost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2898648"/>
            <a:ext cx="3401568" cy="121615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081528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FF743"/>
                </a:solidFill>
                <a:latin typeface="Roboto Condense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063240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474720"/>
            <a:ext cx="23957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F4FF"/>
                </a:solidFill>
                <a:latin typeface="Roboto Condensed"/>
              </a:rPr>
              <a:t>choose threshold by F2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6824" y="2898648"/>
            <a:ext cx="3401568" cy="121615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3081528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FF743"/>
                </a:solidFill>
                <a:latin typeface="Roboto Condense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3063240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4" y="3474720"/>
            <a:ext cx="23957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F4FF"/>
                </a:solidFill>
                <a:latin typeface="Roboto Condensed"/>
              </a:rPr>
              <a:t>locked test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2898648"/>
            <a:ext cx="3401568" cy="121615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081528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DFF743"/>
                </a:solidFill>
                <a:latin typeface="Roboto Condensed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063240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EXPLAIN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474720"/>
            <a:ext cx="23957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F4FF"/>
                </a:solidFill>
                <a:latin typeface="Roboto Condensed"/>
              </a:rPr>
              <a:t>SHAP + error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4590288"/>
            <a:ext cx="10991088" cy="1298448"/>
          </a:xfrm>
          <a:prstGeom prst="roundRect">
            <a:avLst/>
          </a:prstGeom>
          <a:solidFill>
            <a:srgbClr val="0D89DA">
              <a:alpha val="87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773168"/>
            <a:ext cx="10479024" cy="5760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DFF743"/>
                </a:solidFill>
                <a:latin typeface="Roboto Condensed"/>
              </a:rPr>
              <a:t>WHY F2?  </a:t>
            </a:r>
            <a:r>
              <a:rPr sz="1500" b="0">
                <a:solidFill>
                  <a:srgbClr val="FFFFFF"/>
                </a:solidFill>
                <a:latin typeface="Roboto Condensed"/>
              </a:rPr>
              <a:t>A false negative means a real failure was missed. F2 weights recall more than precision, so the validation threshold is chosen to reduce missed failures.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Test set is not used for threshold selection.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EXPERIMENT: FEATURE ENGINEERING &amp;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We tested not only algorithms, but also whether the representation and decision rule improve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417320"/>
            <a:ext cx="5687568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64208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45BA6"/>
                </a:solidFill>
                <a:latin typeface="Roboto Condensed"/>
              </a:rPr>
              <a:t>FEATURE ABLATION — 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9696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95E6F"/>
                </a:solidFill>
                <a:latin typeface="Roboto Condensed"/>
              </a:rPr>
              <a:t>Input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13969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95E6F"/>
                </a:solidFill>
                <a:latin typeface="Roboto Condensed"/>
              </a:rPr>
              <a:t>PR-AUC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3969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95E6F"/>
                </a:solidFill>
                <a:latin typeface="Roboto Condensed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13969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95E6F"/>
                </a:solidFill>
                <a:latin typeface="Roboto Condensed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615184"/>
            <a:ext cx="2423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E1B25"/>
                </a:solidFill>
                <a:latin typeface="Roboto Condensed"/>
              </a:rPr>
              <a:t>Raw 6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615184"/>
            <a:ext cx="7863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045BA6"/>
                </a:solidFill>
                <a:latin typeface="Roboto Condensed"/>
              </a:rPr>
              <a:t>0.798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15184"/>
            <a:ext cx="7498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045BA6"/>
                </a:solidFill>
                <a:latin typeface="Roboto Condensed"/>
              </a:rPr>
              <a:t>0.804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615184"/>
            <a:ext cx="5669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045BA6"/>
                </a:solidFill>
                <a:latin typeface="Roboto Condensed"/>
              </a:rPr>
              <a:t>0.714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291839"/>
            <a:ext cx="2423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45BA6"/>
                </a:solidFill>
                <a:latin typeface="Roboto Condensed"/>
              </a:rPr>
              <a:t>+ 3 engineered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291839"/>
            <a:ext cx="78638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45BA6"/>
                </a:solidFill>
                <a:latin typeface="Roboto Condensed"/>
              </a:rPr>
              <a:t>0.895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91839"/>
            <a:ext cx="7498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45BA6"/>
                </a:solidFill>
                <a:latin typeface="Roboto Condensed"/>
              </a:rPr>
              <a:t>0.821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291839"/>
            <a:ext cx="5669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45BA6"/>
                </a:solidFill>
                <a:latin typeface="Roboto Condensed"/>
              </a:rPr>
              <a:t>0.829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87952"/>
            <a:ext cx="19659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359A4D"/>
                </a:solidFill>
                <a:latin typeface="Roboto Condensed"/>
              </a:rPr>
              <a:t>PR-AUC +0.097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718304"/>
            <a:ext cx="4828032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95E6F"/>
                </a:solidFill>
                <a:latin typeface="Roboto Condensed"/>
              </a:rPr>
              <a:t>Engineered interactions make the failure rules easier for tree models to learn.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417320"/>
            <a:ext cx="4983480" cy="450799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664208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DFF743"/>
                </a:solidFill>
                <a:latin typeface="Roboto Condensed"/>
              </a:rPr>
              <a:t>DECISION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2103120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 Condensed"/>
              </a:rPr>
              <a:t>0.375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221992"/>
            <a:ext cx="25146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BFF4FF"/>
                </a:solidFill>
                <a:latin typeface="Roboto Condensed"/>
              </a:rPr>
              <a:t>selected on validation by F2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06324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Condensed"/>
              </a:rPr>
              <a:t>Default 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63240"/>
            <a:ext cx="24871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BFF4FF"/>
                </a:solidFill>
                <a:latin typeface="Roboto Condensed"/>
              </a:rPr>
              <a:t>Recall 82.1%  •  F2 0.816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685032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DFF743"/>
                </a:solidFill>
                <a:latin typeface="Roboto Condensed"/>
              </a:rPr>
              <a:t>Selected 0.375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685032"/>
            <a:ext cx="24871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Recall 83.9%  •  F2 0.825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645152"/>
            <a:ext cx="408736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BFF4FF"/>
                </a:solidFill>
                <a:latin typeface="Roboto Condensed"/>
              </a:rPr>
              <a:t>The threshold changes the operating point; it does not retrain the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Ablation uses the same split and evaluation protocol.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HELD-OUT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Tree ensembles strongly outperform the linear baseline on the rare failure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687628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23774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45BA6"/>
                </a:solidFill>
                <a:latin typeface="Roboto Condensed"/>
              </a:rPr>
              <a:t>MODEL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495E6F"/>
                </a:solidFill>
                <a:latin typeface="Roboto Condensed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03120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95E6F"/>
                </a:solidFill>
                <a:latin typeface="Roboto Condensed"/>
              </a:rPr>
              <a:t>Prec.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74980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95E6F"/>
                </a:solidFill>
                <a:latin typeface="Roboto Condensed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95E6F"/>
                </a:solidFill>
                <a:latin typeface="Roboto Condensed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4" y="2103120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95E6F"/>
                </a:solidFill>
                <a:latin typeface="Roboto Condensed"/>
              </a:rPr>
              <a:t>F2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103120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95E6F"/>
                </a:solidFill>
                <a:latin typeface="Roboto Condensed"/>
              </a:rPr>
              <a:t>PR-AUC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146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E1B25"/>
                </a:solidFill>
                <a:latin typeface="Roboto Condensed"/>
              </a:rPr>
              <a:t>Dummy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1460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14600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1460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51460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51460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0.037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1546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E1B25"/>
                </a:solidFill>
                <a:latin typeface="Roboto Condensed"/>
              </a:rPr>
              <a:t>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15468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0.284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54680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0.518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15468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0.367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15468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0.445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315468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E1B25"/>
                </a:solidFill>
                <a:latin typeface="Roboto Condensed"/>
              </a:rPr>
              <a:t>0.362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79476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E1B25"/>
                </a:solidFill>
                <a:latin typeface="Roboto Condensed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9476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E1B25"/>
                </a:solidFill>
                <a:latin typeface="Roboto Condensed"/>
              </a:rPr>
              <a:t>0.885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94760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E1B25"/>
                </a:solidFill>
                <a:latin typeface="Roboto Condensed"/>
              </a:rPr>
              <a:t>0.821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79476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E1B25"/>
                </a:solidFill>
                <a:latin typeface="Roboto Condensed"/>
              </a:rPr>
              <a:t>0.852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379476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E1B25"/>
                </a:solidFill>
                <a:latin typeface="Roboto Condensed"/>
              </a:rPr>
              <a:t>0.833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379476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E1B25"/>
                </a:solidFill>
                <a:latin typeface="Roboto Condensed"/>
              </a:rPr>
              <a:t>0.883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361688"/>
            <a:ext cx="6446520" cy="502920"/>
          </a:xfrm>
          <a:prstGeom prst="roundRect">
            <a:avLst/>
          </a:prstGeom>
          <a:solidFill>
            <a:srgbClr val="E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4348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45BA6"/>
                </a:solidFill>
                <a:latin typeface="Roboto Condensed"/>
              </a:rP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43484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45BA6"/>
                </a:solidFill>
                <a:latin typeface="Roboto Condensed"/>
              </a:rPr>
              <a:t>0.770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434840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45BA6"/>
                </a:solidFill>
                <a:latin typeface="Roboto Condensed"/>
              </a:rPr>
              <a:t>0.839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43484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45BA6"/>
                </a:solidFill>
                <a:latin typeface="Roboto Condensed"/>
              </a:rPr>
              <a:t>0.803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2624" y="443484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45BA6"/>
                </a:solidFill>
                <a:latin typeface="Roboto Condensed"/>
              </a:rPr>
              <a:t>0.825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7568" y="443484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45BA6"/>
                </a:solidFill>
                <a:latin typeface="Roboto Condensed"/>
              </a:rPr>
              <a:t>0.898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276088"/>
            <a:ext cx="6153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B44826"/>
                </a:solidFill>
                <a:latin typeface="Roboto Condensed"/>
              </a:rPr>
              <a:t>Dummy accuracy = 96.3% — but it detects 0 failures.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26096" y="1353312"/>
            <a:ext cx="400507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700784"/>
            <a:ext cx="3584448" cy="29443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955279" y="4846320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495E6F"/>
                </a:solidFill>
                <a:latin typeface="Roboto Condensed"/>
              </a:rPr>
              <a:t>Best PR-AUC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4809744"/>
            <a:ext cx="17830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45BA6"/>
                </a:solidFill>
                <a:latin typeface="Roboto Condensed"/>
              </a:rPr>
              <a:t>XGBoost 0.898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Locked test set: n=1,500 • failures=56 • metrics computed once after validation decisions were fixed.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FINAL XGBOOST ON THE LOCKED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The model finds 47 of 56 failures while producing 14 false alarms.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70332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_xgbo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00784"/>
            <a:ext cx="3218688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489204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B9149"/>
                </a:solidFill>
                <a:latin typeface="Roboto Condensed"/>
              </a:rPr>
              <a:t>47 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9204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C74D39"/>
                </a:solidFill>
                <a:latin typeface="Roboto Condensed"/>
              </a:rPr>
              <a:t>9 FN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489204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D78C23"/>
                </a:solidFill>
                <a:latin typeface="Roboto Condensed"/>
              </a:rPr>
              <a:t>14 FP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371600"/>
            <a:ext cx="705916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618488"/>
            <a:ext cx="6473952" cy="3767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XGBoost: precision 0.770 • recall 0.839 • F1 0.803 • F2 0.825 • ROC-AUC 0.987 • PR-AUC 0.898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ERROR ANALYSIS: NOT EVERY FAILURE IS PREDICTABLE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Hidden failure-mode labels were inspected only after prediction to understand the nine false negatives.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644652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ilure_mode_re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19072"/>
            <a:ext cx="5943600" cy="3447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9480" y="1371600"/>
            <a:ext cx="4315968" cy="4498848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664208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DFF743"/>
                </a:solidFill>
                <a:latin typeface="Roboto Condensed"/>
              </a:rPr>
              <a:t>WHAT THE ERRORS TELL US</a:t>
            </a:r>
          </a:p>
        </p:txBody>
      </p:sp>
      <p:sp>
        <p:nvSpPr>
          <p:cNvPr id="11" name="Oval 10"/>
          <p:cNvSpPr/>
          <p:nvPr/>
        </p:nvSpPr>
        <p:spPr>
          <a:xfrm>
            <a:off x="7571231" y="2249424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148840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PWF: 15 / 15 detected</a:t>
            </a:r>
          </a:p>
        </p:txBody>
      </p:sp>
      <p:sp>
        <p:nvSpPr>
          <p:cNvPr id="13" name="Oval 12"/>
          <p:cNvSpPr/>
          <p:nvPr/>
        </p:nvSpPr>
        <p:spPr>
          <a:xfrm>
            <a:off x="7571231" y="2715768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615184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OSF: 10 / 10 detected</a:t>
            </a:r>
          </a:p>
        </p:txBody>
      </p:sp>
      <p:sp>
        <p:nvSpPr>
          <p:cNvPr id="15" name="Oval 14"/>
          <p:cNvSpPr/>
          <p:nvPr/>
        </p:nvSpPr>
        <p:spPr>
          <a:xfrm>
            <a:off x="7571231" y="318211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08152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HDF: 20 / 22 detected</a:t>
            </a:r>
          </a:p>
        </p:txBody>
      </p:sp>
      <p:sp>
        <p:nvSpPr>
          <p:cNvPr id="17" name="Oval 16"/>
          <p:cNvSpPr/>
          <p:nvPr/>
        </p:nvSpPr>
        <p:spPr>
          <a:xfrm>
            <a:off x="7571231" y="3648456"/>
            <a:ext cx="82296" cy="82296"/>
          </a:xfrm>
          <a:prstGeom prst="ellipse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54787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TWF: only 2 / 7 detected</a:t>
            </a:r>
          </a:p>
        </p:txBody>
      </p:sp>
      <p:sp>
        <p:nvSpPr>
          <p:cNvPr id="19" name="Oval 18"/>
          <p:cNvSpPr/>
          <p:nvPr/>
        </p:nvSpPr>
        <p:spPr>
          <a:xfrm>
            <a:off x="7571231" y="4114800"/>
            <a:ext cx="82296" cy="82296"/>
          </a:xfrm>
          <a:prstGeom prst="ellipse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14215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 Condensed"/>
              </a:rPr>
              <a:t>RNF: 0 / 2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663440"/>
            <a:ext cx="34290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FF4FF"/>
                </a:solidFill>
                <a:latin typeface="Roboto Condensed"/>
              </a:rPr>
              <a:t>Some TWF/RNF events are random by construction. Missing information cannot be recovered by a stronger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This is a limitation of the observable feature set, not just a model-selection issue.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EXPLAINABILITY WITH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SHAP explains model behaviour; it does not prove physical causality.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53312"/>
            <a:ext cx="6784848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ap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691640"/>
            <a:ext cx="6309360" cy="3639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26096" y="1353312"/>
            <a:ext cx="3977639" cy="4535424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8"/>
            <a:ext cx="19202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DFF743"/>
                </a:solidFill>
                <a:latin typeface="Roboto Condensed"/>
              </a:rPr>
              <a:t>TOP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16712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 Condensed"/>
              </a:rPr>
              <a:t>1  Rotational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67004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 Condensed"/>
              </a:rPr>
              <a:t>2  Tool wear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317296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oboto Condensed"/>
              </a:rPr>
              <a:t>3  Mechanical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67588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oboto Condensed"/>
              </a:rPr>
              <a:t>4  Wear × torque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417880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oboto Condensed"/>
              </a:rPr>
              <a:t>5  Temperature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736592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FF743"/>
                </a:solidFill>
                <a:latin typeface="Roboto Condensed"/>
              </a:rPr>
              <a:t>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5010912"/>
            <a:ext cx="30632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FF4FF"/>
                </a:solidFill>
                <a:latin typeface="Roboto Condensed"/>
              </a:rPr>
              <a:t>Explain why a reading received a high model score and support an engineer’s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Interpretation: mean |SHAP| on the locked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Roboto Condensed"/>
              </a:rPr>
              <a:t>WORKING PROTOTYPE &amp; 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F4FF"/>
                </a:solidFill>
                <a:latin typeface="Roboto Condensed"/>
              </a:rPr>
              <a:t>The same preprocessing and model artifact are used in training and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DFF743"/>
                </a:solidFill>
                <a:latin typeface="Roboto Condensed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DEMO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73936"/>
            <a:ext cx="22677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45BA6"/>
                </a:solidFill>
                <a:latin typeface="Roboto Condensed"/>
              </a:rPr>
              <a:t>6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67712"/>
            <a:ext cx="20482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495E6F"/>
                </a:solidFill>
                <a:latin typeface="Roboto Condensed"/>
              </a:rPr>
              <a:t>sensor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084831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DFF743"/>
                </a:solidFill>
                <a:latin typeface="Roboto Condense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73936"/>
            <a:ext cx="22677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901952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45BA6"/>
                </a:solidFill>
                <a:latin typeface="Roboto Condensed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267712"/>
            <a:ext cx="20482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495E6F"/>
                </a:solidFill>
                <a:latin typeface="Roboto Condensed"/>
              </a:rPr>
              <a:t>/predict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144" y="2084831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DFF743"/>
                </a:solidFill>
                <a:latin typeface="Roboto Condense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73936"/>
            <a:ext cx="22677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901952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45BA6"/>
                </a:solidFill>
                <a:latin typeface="Roboto Condensed"/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267712"/>
            <a:ext cx="20482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495E6F"/>
                </a:solidFill>
                <a:latin typeface="Roboto Condensed"/>
              </a:rPr>
              <a:t>preprocess + XGB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084831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DFF743"/>
                </a:solidFill>
                <a:latin typeface="Roboto Condense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1773936"/>
            <a:ext cx="22677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1901952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45BA6"/>
                </a:solidFill>
                <a:latin typeface="Roboto Condensed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267712"/>
            <a:ext cx="20482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495E6F"/>
                </a:solidFill>
                <a:latin typeface="Roboto Condensed"/>
              </a:rPr>
              <a:t>status + risk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46120"/>
            <a:ext cx="5230368" cy="2514600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9300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REPRODUCIBILITY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40050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3904487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Fixed random seed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441655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315968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sklearn Pipeline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482803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" y="4727448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requirements.txt</a:t>
            </a:r>
          </a:p>
        </p:txBody>
      </p:sp>
      <p:sp>
        <p:nvSpPr>
          <p:cNvPr id="31" name="Oval 30"/>
          <p:cNvSpPr/>
          <p:nvPr/>
        </p:nvSpPr>
        <p:spPr>
          <a:xfrm>
            <a:off x="932688" y="523951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5138927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Dockerfile + smoke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3246120"/>
            <a:ext cx="5394960" cy="2514600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349300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RESPONSIBLE AI</a:t>
            </a:r>
          </a:p>
        </p:txBody>
      </p:sp>
      <p:sp>
        <p:nvSpPr>
          <p:cNvPr id="35" name="Oval 34"/>
          <p:cNvSpPr/>
          <p:nvPr/>
        </p:nvSpPr>
        <p:spPr>
          <a:xfrm>
            <a:off x="6446520" y="4005072"/>
            <a:ext cx="82296" cy="82296"/>
          </a:xfrm>
          <a:prstGeom prst="ellipse">
            <a:avLst/>
          </a:prstGeom>
          <a:solidFill>
            <a:srgbClr val="B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904487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risk score ≠ calibrated probability</a:t>
            </a:r>
          </a:p>
        </p:txBody>
      </p:sp>
      <p:sp>
        <p:nvSpPr>
          <p:cNvPr id="37" name="Oval 36"/>
          <p:cNvSpPr/>
          <p:nvPr/>
        </p:nvSpPr>
        <p:spPr>
          <a:xfrm>
            <a:off x="6446520" y="4416552"/>
            <a:ext cx="82296" cy="82296"/>
          </a:xfrm>
          <a:prstGeom prst="ellipse">
            <a:avLst/>
          </a:prstGeom>
          <a:solidFill>
            <a:srgbClr val="B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315968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human-in-the-loop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482803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1968" y="4727448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no automatic machine shutdown</a:t>
            </a:r>
          </a:p>
        </p:txBody>
      </p:sp>
      <p:sp>
        <p:nvSpPr>
          <p:cNvPr id="41" name="Oval 40"/>
          <p:cNvSpPr/>
          <p:nvPr/>
        </p:nvSpPr>
        <p:spPr>
          <a:xfrm>
            <a:off x="6446520" y="523951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138927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real telemetry + drift monitoring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BFF4FF"/>
                </a:solidFill>
                <a:latin typeface="Roboto Condensed"/>
              </a:rPr>
              <a:t>Demo: uvicorn app:app --reload → Swagger /docs → POST /predict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 descr="s1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0080"/>
            <a:ext cx="288036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Roboto Condensed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6629400" cy="3410712"/>
          </a:xfrm>
          <a:prstGeom prst="roundRect">
            <a:avLst/>
          </a:prstGeom>
          <a:solidFill>
            <a:srgbClr val="0D89DA">
              <a:alpha val="86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WHAT WE ACHIEVED</a:t>
            </a:r>
          </a:p>
        </p:txBody>
      </p:sp>
      <p:sp>
        <p:nvSpPr>
          <p:cNvPr id="8" name="Oval 7"/>
          <p:cNvSpPr/>
          <p:nvPr/>
        </p:nvSpPr>
        <p:spPr>
          <a:xfrm>
            <a:off x="905256" y="2139696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039112"/>
            <a:ext cx="5989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Leakage-safe, reproducible ML pipeline</a:t>
            </a:r>
          </a:p>
        </p:txBody>
      </p:sp>
      <p:sp>
        <p:nvSpPr>
          <p:cNvPr id="10" name="Oval 9"/>
          <p:cNvSpPr/>
          <p:nvPr/>
        </p:nvSpPr>
        <p:spPr>
          <a:xfrm>
            <a:off x="905256" y="2532888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432304"/>
            <a:ext cx="5989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Random Forest / XGBoost strongly beat the linear baseline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" y="2926079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825496"/>
            <a:ext cx="5989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XGBoost: PR-AUC 0.898, recall 83.9% on locked test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" y="33192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218688"/>
            <a:ext cx="5989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Feature engineering produced a measurable gain</a:t>
            </a:r>
          </a:p>
        </p:txBody>
      </p:sp>
      <p:sp>
        <p:nvSpPr>
          <p:cNvPr id="16" name="Oval 15"/>
          <p:cNvSpPr/>
          <p:nvPr/>
        </p:nvSpPr>
        <p:spPr>
          <a:xfrm>
            <a:off x="905256" y="3712464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611880"/>
            <a:ext cx="5989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Error analysis exposed predictable and unpredictable failure modes</a:t>
            </a:r>
          </a:p>
        </p:txBody>
      </p:sp>
      <p:sp>
        <p:nvSpPr>
          <p:cNvPr id="18" name="Oval 17"/>
          <p:cNvSpPr/>
          <p:nvPr/>
        </p:nvSpPr>
        <p:spPr>
          <a:xfrm>
            <a:off x="905256" y="4105656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05072"/>
            <a:ext cx="5989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Working FastAPI prototype + SHAP explanations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389888"/>
            <a:ext cx="4050791" cy="3410712"/>
          </a:xfrm>
          <a:prstGeom prst="roundRect">
            <a:avLst/>
          </a:prstGeom>
          <a:solidFill>
            <a:srgbClr val="0D89DA">
              <a:alpha val="90000"/>
            </a:srgbClr>
          </a:solidFill>
          <a:ln w="12700">
            <a:solidFill>
              <a:srgbClr val="B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664208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DFF743"/>
                </a:solidFill>
                <a:latin typeface="Roboto Condensed"/>
              </a:rPr>
              <a:t>NEXT STAGE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1762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207568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Official / real industrial data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6334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6136" y="253288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Time-series telemetry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0906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6136" y="299008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Remaining Useful Life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5478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46136" y="344728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Cost-sensitive decisions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4005072"/>
            <a:ext cx="82296" cy="82296"/>
          </a:xfrm>
          <a:prstGeom prst="ellipse">
            <a:avLst/>
          </a:prstGeom>
          <a:solidFill>
            <a:srgbClr val="DFF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3904487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Roboto Condensed"/>
              </a:rPr>
              <a:t>MLOps + drift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093208"/>
            <a:ext cx="16002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FF743"/>
                </a:solidFill>
                <a:latin typeface="Roboto Condensed"/>
              </a:rPr>
              <a:t>KEY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39496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 Condensed"/>
              </a:rPr>
              <a:t>UCI AI4I 2020 Predictive Maintenance Dataset, DOI 10.24432/C5HS5C  •  Matzka (2020), AI4I  •  Aktaukenov et al. (2024, 2026), SOCAR Proceedings  •  Zharlykassova et al. (2026), EKTU JICS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126480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Roboto Condensed"/>
              </a:rPr>
              <a:t>THANK YOU  •  QUESTIONS?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28816"/>
            <a:ext cx="1828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BFF4FF"/>
                </a:solidFill>
                <a:latin typeface="Roboto Condense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